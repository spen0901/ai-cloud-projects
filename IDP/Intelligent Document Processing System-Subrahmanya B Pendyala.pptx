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22"/>
  </p:notesMasterIdLst>
  <p:handoutMasterIdLst>
    <p:handoutMasterId r:id="rId23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88" r:id="rId10"/>
    <p:sldId id="276" r:id="rId11"/>
    <p:sldId id="280" r:id="rId12"/>
    <p:sldId id="278" r:id="rId13"/>
    <p:sldId id="279" r:id="rId14"/>
    <p:sldId id="281" r:id="rId15"/>
    <p:sldId id="282" r:id="rId16"/>
    <p:sldId id="283" r:id="rId17"/>
    <p:sldId id="285" r:id="rId18"/>
    <p:sldId id="286" r:id="rId19"/>
    <p:sldId id="287" r:id="rId20"/>
    <p:sldId id="277" r:id="rId21"/>
  </p:sldIdLst>
  <p:sldSz cx="12188825" cy="6858000"/>
  <p:notesSz cx="7315200" cy="96012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2203" autoAdjust="0"/>
  </p:normalViewPr>
  <p:slideViewPr>
    <p:cSldViewPr showGuides="1">
      <p:cViewPr varScale="1">
        <p:scale>
          <a:sx n="91" d="100"/>
          <a:sy n="91" d="100"/>
        </p:scale>
        <p:origin x="1350" y="78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912" y="96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1" tIns="48325" rIns="96651" bIns="48325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1" tIns="48325" rIns="96651" bIns="48325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5/10/2026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1" tIns="48325" rIns="96651" bIns="48325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1" tIns="48325" rIns="96651" bIns="48325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1" tIns="48325" rIns="96651" bIns="48325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1" tIns="48325" rIns="96651" bIns="48325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5/10/2026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1" tIns="48325" rIns="96651" bIns="48325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1"/>
            <a:ext cx="5852160" cy="4320540"/>
          </a:xfrm>
          <a:prstGeom prst="rect">
            <a:avLst/>
          </a:prstGeom>
        </p:spPr>
        <p:txBody>
          <a:bodyPr vert="horz" lIns="96651" tIns="48325" rIns="96651" bIns="48325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1" tIns="48325" rIns="96651" bIns="48325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1" tIns="48325" rIns="96651" bIns="48325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05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everyone. Thank you for taking the time to attend this presentation. Today, I am excited to introduce my Capstone Project: the </a:t>
            </a:r>
            <a:r>
              <a:rPr lang="en-US" b="1" dirty="0"/>
              <a:t>Intelligent Document Processing System</a:t>
            </a:r>
            <a:r>
              <a:rPr lang="en-US" dirty="0"/>
              <a:t>, or IDP.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04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9C159-AD62-D787-F71A-BBAD82BE7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63415-9D62-F193-9608-F3CB23BBE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87F4D6-D3BB-AB23-31BB-5A2D6C74B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This Capstone Project, the </a:t>
            </a:r>
            <a:r>
              <a:rPr lang="en-US" sz="1600" b="1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Intelligent Document Processing (IDP) System</a:t>
            </a:r>
            <a:r>
              <a:rPr lang="en-US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, is a practical application of my MS ADT with AI Specialization.</a:t>
            </a:r>
          </a:p>
          <a:p>
            <a:pPr rtl="0"/>
            <a:r>
              <a:rPr lang="en-US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Our primary goal is to </a:t>
            </a:r>
            <a:r>
              <a:rPr lang="en-US" sz="1600" b="1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automate text and tabular data extraction</a:t>
            </a:r>
            <a:r>
              <a:rPr lang="en-US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 from documents like invoices and receipts. The core technology is </a:t>
            </a:r>
            <a:r>
              <a:rPr lang="en-US" sz="1600" b="1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Azure AI Document Intelligence</a:t>
            </a:r>
            <a:r>
              <a:rPr lang="en-US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, utilizing its advanced OCR capabilities.</a:t>
            </a:r>
          </a:p>
          <a:p>
            <a:pPr rtl="0"/>
            <a:r>
              <a:rPr lang="en-US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The solution operates in two main phases:</a:t>
            </a:r>
          </a:p>
          <a:p>
            <a:pPr rtl="0"/>
            <a:r>
              <a:rPr lang="en-US" sz="1600" b="1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Automated Processing (Steps 1-5):</a:t>
            </a:r>
            <a:r>
              <a:rPr lang="en-US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 Documents are uploaded via a Servlet UI, stored in Azure Blob Storage, and an Azure Function is triggered to call Document Intelligence for analysis. A second function then routes high-confidence data ($\</a:t>
            </a:r>
            <a:r>
              <a:rPr lang="en-US" sz="1600" kern="1200" dirty="0" err="1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ge</a:t>
            </a:r>
            <a:r>
              <a:rPr lang="en-US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 95\%$) straight to the Azure SQL Database.</a:t>
            </a:r>
          </a:p>
          <a:p>
            <a:pPr rtl="0"/>
            <a:r>
              <a:rPr lang="en-US" sz="1600" b="1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Exception Handling (Steps 5-7):</a:t>
            </a:r>
            <a:r>
              <a:rPr lang="en-US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 Low-confidence documents are routed to a </a:t>
            </a:r>
            <a:r>
              <a:rPr lang="en-US" sz="1600" b="1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Human Review Queue</a:t>
            </a:r>
            <a:r>
              <a:rPr lang="en-US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. A reviewer corrects the data via a separate UI/Servlet and submits the final output to the database.</a:t>
            </a:r>
          </a:p>
          <a:p>
            <a:pPr rtl="0"/>
            <a:r>
              <a:rPr lang="en-US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The business value is clear: we significantly </a:t>
            </a:r>
            <a:r>
              <a:rPr lang="en-US" sz="1600" b="1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reduce manual data entry</a:t>
            </a:r>
            <a:r>
              <a:rPr lang="en-US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600" b="1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accelerate Accounts Payable and claims processing</a:t>
            </a:r>
            <a:r>
              <a:rPr lang="en-US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, leading to huge time savings and fewer errors."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ED304-582F-E674-97F3-D34586066A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621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1FD7F-77F7-6776-DB02-9A6E7631E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DF955-CDDF-E257-1B40-2AF7925DC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44A06-9056-098B-D4BD-0FC2C09D5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The project's primary goal is to </a:t>
            </a:r>
            <a:r>
              <a:rPr lang="en-US" sz="2000" b="1" dirty="0"/>
              <a:t>automate text and data extraction</a:t>
            </a:r>
            <a:r>
              <a:rPr lang="en-US" sz="2000" dirty="0"/>
              <a:t> from documents like invoices and receipts. We use </a:t>
            </a:r>
            <a:r>
              <a:rPr lang="en-US" sz="2000" b="1" dirty="0"/>
              <a:t>Azure AI Document Intelligence</a:t>
            </a:r>
            <a:r>
              <a:rPr lang="en-US" sz="2000" dirty="0"/>
              <a:t> (with advanced OCR) as the core technology. This eliminates the need for manual data entry.</a:t>
            </a:r>
          </a:p>
          <a:p>
            <a:r>
              <a:rPr lang="en-US" sz="2000" dirty="0"/>
              <a:t>The system flow is: Documents are uploaded via a Servlet UI, stored in Azure Blob Storage, triggering an Azure Function for analysis. Validation follows, routing high-confidence data straight to the DB. Low-confidence data goes to the </a:t>
            </a:r>
            <a:r>
              <a:rPr lang="en-US" sz="2000" b="1" dirty="0"/>
              <a:t>Human Review Queue</a:t>
            </a:r>
            <a:r>
              <a:rPr lang="en-US" sz="2000" dirty="0"/>
              <a:t>. A Reviewer corrects this data via a Servlet UI before final ingestion into Azure SQL Database.</a:t>
            </a:r>
          </a:p>
          <a:p>
            <a:r>
              <a:rPr lang="en-US" sz="2000" dirty="0"/>
              <a:t>This drastically </a:t>
            </a:r>
            <a:r>
              <a:rPr lang="en-US" sz="2000" b="1" dirty="0"/>
              <a:t>accelerates Accounts Payable and claims processing</a:t>
            </a:r>
            <a:r>
              <a:rPr lang="en-US" sz="2000" dirty="0"/>
              <a:t>, saving time and reducing human errors.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FC20E-4B69-3079-A9C0-E6CD48630B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69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B22C1-F910-CEDF-D1F4-B4944A828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DD391-8FEF-1FE7-BF75-75F53E1C9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C1CDA0-3F73-820E-DF72-6799B61AB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shows the complete, step-by-step process of our Intelligent Document Processing system.</a:t>
            </a:r>
          </a:p>
          <a:p>
            <a:r>
              <a:rPr lang="en-US" b="1" dirty="0"/>
              <a:t>Ingestion:</a:t>
            </a:r>
            <a:r>
              <a:rPr lang="en-US" dirty="0"/>
              <a:t> The user starts the process by uploading a document via the Ingestion UI, which is a simple JSP/Servlet interface.</a:t>
            </a:r>
          </a:p>
          <a:p>
            <a:r>
              <a:rPr lang="en-US" b="1" dirty="0"/>
              <a:t>Storage:</a:t>
            </a:r>
            <a:r>
              <a:rPr lang="en-US" dirty="0"/>
              <a:t> The document is immediately stored in Azure Blob Storage in the </a:t>
            </a:r>
            <a:r>
              <a: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raw-uploads</a:t>
            </a:r>
            <a:r>
              <a:rPr lang="en-US" dirty="0"/>
              <a:t> container.</a:t>
            </a:r>
          </a:p>
          <a:p>
            <a:r>
              <a:rPr lang="en-US" b="1" dirty="0"/>
              <a:t>Automation Trigger:</a:t>
            </a:r>
            <a:r>
              <a:rPr lang="en-US" dirty="0"/>
              <a:t> The moment the file lands, it triggers an event that starts </a:t>
            </a:r>
            <a:r>
              <a:rPr lang="en-US" b="1" dirty="0"/>
              <a:t>Azure Function 1</a:t>
            </a:r>
            <a:r>
              <a:rPr lang="en-US" dirty="0"/>
              <a:t>.</a:t>
            </a:r>
          </a:p>
          <a:p>
            <a:r>
              <a:rPr lang="en-US" b="1" dirty="0"/>
              <a:t>Analysis:</a:t>
            </a:r>
            <a:r>
              <a:rPr lang="en-US" dirty="0"/>
              <a:t> This function calls </a:t>
            </a:r>
            <a:r>
              <a:rPr lang="en-US" b="1" dirty="0"/>
              <a:t>Azure AI Document Intelligence</a:t>
            </a:r>
            <a:r>
              <a:rPr lang="en-US" dirty="0"/>
              <a:t> (our OCR core) to extract the structured data.</a:t>
            </a:r>
          </a:p>
          <a:p>
            <a:r>
              <a:rPr lang="en-US" b="1" dirty="0"/>
              <a:t>Routing:</a:t>
            </a:r>
            <a:r>
              <a:rPr lang="en-US" dirty="0"/>
              <a:t> </a:t>
            </a:r>
            <a:r>
              <a:rPr lang="en-US" b="1" dirty="0"/>
              <a:t>Azure Function 2</a:t>
            </a:r>
            <a:r>
              <a:rPr lang="en-US" dirty="0"/>
              <a:t> checks the extraction confidence. If it's high (95% or more), the data goes straight to the Azure SQL Database.</a:t>
            </a:r>
          </a:p>
          <a:p>
            <a:r>
              <a:rPr lang="en-US" b="1" dirty="0"/>
              <a:t>Human Review:</a:t>
            </a:r>
            <a:r>
              <a:rPr lang="en-US" dirty="0"/>
              <a:t> If the confidence is low, the data is routed to the </a:t>
            </a:r>
            <a:r>
              <a:rPr lang="en-US" b="1" dirty="0"/>
              <a:t>Human Review Queue</a:t>
            </a:r>
            <a:r>
              <a:rPr lang="en-US" dirty="0"/>
              <a:t>. A reviewer uses a separate Servlet UI to correct the data.</a:t>
            </a:r>
          </a:p>
          <a:p>
            <a:r>
              <a:rPr lang="en-US" b="1" dirty="0"/>
              <a:t>Final Output:</a:t>
            </a:r>
            <a:r>
              <a:rPr lang="en-US" dirty="0"/>
              <a:t> Whether automated or manually corrected, the validated data is finally saved into the </a:t>
            </a:r>
            <a:r>
              <a:rPr lang="en-US" b="1" dirty="0"/>
              <a:t>Azure SQL Database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D924-777C-AC19-5C79-5B756860EA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53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8A877-D2A3-D8D1-BAAC-FEBB72245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058F7-836C-45BA-9A94-21EF68EC3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ED820-1422-2109-AEF6-4BDD8B167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This slide shows the </a:t>
            </a:r>
            <a:r>
              <a:rPr lang="en-US" sz="2000" b="1" dirty="0"/>
              <a:t>Ingestion UI</a:t>
            </a:r>
            <a:r>
              <a:rPr lang="en-US" sz="2000" dirty="0"/>
              <a:t>, the very first step of our IDP system, implemented using a simple JSP page.</a:t>
            </a:r>
          </a:p>
          <a:p>
            <a:r>
              <a:rPr lang="en-US" sz="2000" dirty="0"/>
              <a:t>The goal of this page is straightforward: to allow the user to </a:t>
            </a:r>
            <a:r>
              <a:rPr lang="en-US" sz="2000" b="1" dirty="0"/>
              <a:t>select and upload a document</a:t>
            </a:r>
            <a:r>
              <a:rPr lang="en-US" sz="2000" dirty="0"/>
              <a:t> to be processed.</a:t>
            </a:r>
          </a:p>
          <a:p>
            <a:r>
              <a:rPr lang="en-US" sz="2000" b="1" dirty="0"/>
              <a:t>Select File:</a:t>
            </a:r>
            <a:r>
              <a:rPr lang="en-US" sz="2000" dirty="0"/>
              <a:t> The user clicks the 'Select File' button to choose an invoice or receipt from their local computer. This is a standard HTML file input.</a:t>
            </a:r>
          </a:p>
          <a:p>
            <a:r>
              <a:rPr lang="en-US" sz="2000" b="1" dirty="0"/>
              <a:t>Document Type (Optional):</a:t>
            </a:r>
            <a:r>
              <a:rPr lang="en-US" sz="2000" dirty="0"/>
              <a:t> We include an optional field where the user can tag the document, which can help in routing or model selection later in the Azure pipeline.</a:t>
            </a:r>
          </a:p>
          <a:p>
            <a:r>
              <a:rPr lang="en-US" sz="2000" b="1" dirty="0"/>
              <a:t>Submission:</a:t>
            </a:r>
            <a:r>
              <a:rPr lang="en-US" sz="2000" dirty="0"/>
              <a:t> When the user clicks 'Upload Document,' the data is sent to the </a:t>
            </a:r>
            <a:r>
              <a:rPr lang="en-US" sz="1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UploadServlet</a:t>
            </a:r>
            <a:r>
              <a:rPr lang="en-US" sz="2000" dirty="0"/>
              <a:t>. The Servlet then takes this file and pushes it directly into Azure Blob Storage, officially starting the entire automated workflow</a:t>
            </a:r>
          </a:p>
          <a:p>
            <a:pPr>
              <a:buFont typeface="Wingdings" panose="05000000000000000000" pitchFamily="2" charset="2"/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D329F-F493-BD4C-3579-524586808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13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3827F-B714-D0E6-BD2E-0922707F0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02373-84B2-4F5E-785A-8E72D4555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EE848-1A6B-BEA0-34C5-F5F9DBED1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This slide shows the key Java code for the </a:t>
            </a:r>
            <a:r>
              <a:rPr lang="en-US" sz="1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UploadServlet</a:t>
            </a:r>
            <a:r>
              <a:rPr lang="en-US" sz="1200" dirty="0"/>
              <a:t>, which is the backend that handles the file submission from the JSP page.</a:t>
            </a:r>
          </a:p>
          <a:p>
            <a:r>
              <a:rPr lang="en-US" sz="1200" b="1" dirty="0"/>
              <a:t>File Reception:</a:t>
            </a:r>
            <a:r>
              <a:rPr lang="en-US" sz="1200" dirty="0"/>
              <a:t> The servlet first receives the uploaded file content using </a:t>
            </a:r>
            <a:r>
              <a:rPr lang="en-US" sz="1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request.getPart</a:t>
            </a:r>
            <a:r>
              <a: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US" sz="1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documentFile</a:t>
            </a:r>
            <a:r>
              <a: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")</a:t>
            </a:r>
            <a:r>
              <a:rPr lang="en-US" sz="1200" dirty="0"/>
              <a:t>.</a:t>
            </a:r>
          </a:p>
          <a:p>
            <a:r>
              <a:rPr lang="en-US" sz="1200" b="1" dirty="0"/>
              <a:t>Unique Naming:</a:t>
            </a:r>
            <a:r>
              <a:rPr lang="en-US" sz="1200" dirty="0"/>
              <a:t> It generates a universally unique name for the file using </a:t>
            </a:r>
            <a:r>
              <a:rPr lang="en-US" sz="1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UUID.randomUUID</a:t>
            </a:r>
            <a:r>
              <a: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sz="1200" dirty="0"/>
              <a:t> to prevent any conflicts in storage.</a:t>
            </a:r>
          </a:p>
          <a:p>
            <a:r>
              <a:rPr lang="en-US" sz="1200" b="1" dirty="0"/>
              <a:t>Azure Connection:</a:t>
            </a:r>
            <a:r>
              <a:rPr lang="en-US" sz="1200" dirty="0"/>
              <a:t> It establishes a secure connection to Azure using the </a:t>
            </a:r>
            <a:r>
              <a:rPr lang="en-US" sz="1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BlobServiceClientBuilder</a:t>
            </a:r>
            <a:r>
              <a:rPr lang="en-US" sz="1200" dirty="0"/>
              <a:t> and the connection string.</a:t>
            </a:r>
          </a:p>
          <a:p>
            <a:r>
              <a:rPr lang="en-US" sz="1200" b="1" dirty="0"/>
              <a:t>Storage Logic:</a:t>
            </a:r>
            <a:r>
              <a:rPr lang="en-US" sz="1200" dirty="0"/>
              <a:t> It ensures the </a:t>
            </a:r>
            <a:r>
              <a: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raw-uploads</a:t>
            </a:r>
            <a:r>
              <a:rPr lang="en-US" sz="1200" dirty="0"/>
              <a:t> container exists, gets a client for the new file, and then executes the critical </a:t>
            </a:r>
            <a:r>
              <a:rPr lang="en-US" sz="1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blobClient.upload</a:t>
            </a:r>
            <a:r>
              <a: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sz="1200" dirty="0"/>
              <a:t> command.</a:t>
            </a:r>
          </a:p>
          <a:p>
            <a:r>
              <a:rPr lang="en-US" sz="1200" dirty="0"/>
              <a:t>This step successfully moves the user's document from the web browser to Azure Blob Storage, fulfilling the </a:t>
            </a:r>
            <a:r>
              <a:rPr lang="en-US" sz="1200" b="1" dirty="0"/>
              <a:t>Ingestion and Storage</a:t>
            </a:r>
            <a:r>
              <a:rPr lang="en-US" sz="1200" dirty="0"/>
              <a:t> steps (1 and 2) and setting up the </a:t>
            </a:r>
            <a:r>
              <a:rPr lang="en-US" sz="1200" b="1" dirty="0"/>
              <a:t>Blob Created Event</a:t>
            </a:r>
            <a:r>
              <a:rPr lang="en-US" sz="1200" dirty="0"/>
              <a:t> (step 3) that triggers the rest of the automated pipeline.</a:t>
            </a:r>
          </a:p>
          <a:p>
            <a:pPr defTabSz="1288449"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D6675-1393-ED54-E96E-078A6865A1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7379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BC47B-3763-4887-2CF4-023349E16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90914-B4B2-7FBC-5C92-8007C6936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1C9CE-6CF4-48ED-F139-AFC6E478E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Key Steps in the Workflow</a:t>
            </a:r>
          </a:p>
          <a:p>
            <a:r>
              <a:rPr lang="en-US" sz="1200" b="1" dirty="0"/>
              <a:t>The Trigger:</a:t>
            </a:r>
            <a:r>
              <a:rPr lang="en-US" sz="1200" dirty="0"/>
              <a:t> The process starts automatically the moment a file is uploaded to a specific Azure storage folder.</a:t>
            </a:r>
          </a:p>
          <a:p>
            <a:r>
              <a:rPr lang="en-US" sz="1200" b="1" dirty="0"/>
              <a:t>The Brain (AI Integration):</a:t>
            </a:r>
            <a:r>
              <a:rPr lang="en-US" sz="1200" dirty="0"/>
              <a:t> The code sends the document to </a:t>
            </a:r>
            <a:r>
              <a:rPr lang="en-US" sz="1200" b="1" dirty="0"/>
              <a:t>Azure AI Document Intelligence</a:t>
            </a:r>
            <a:r>
              <a:rPr lang="en-US" sz="1200" dirty="0"/>
              <a:t>. We specifically use the "prebuilt-invoice" model, which is already trained to find things like vendor names and total amounts.</a:t>
            </a:r>
          </a:p>
          <a:p>
            <a:r>
              <a:rPr lang="en-US" sz="1200" b="1" dirty="0"/>
              <a:t>The Safety Net (Retry Logic):</a:t>
            </a:r>
            <a:r>
              <a:rPr lang="en-US" sz="1200" dirty="0"/>
              <a:t> Databases sometimes "sleep" to save costs. This code includes a "retry loop"—if the database is busy or waking up, the code waits 15 seconds and tries again rather than just failing.</a:t>
            </a:r>
          </a:p>
          <a:p>
            <a:r>
              <a:rPr lang="en-US" sz="1200" b="1" dirty="0"/>
              <a:t>Data Extraction:</a:t>
            </a:r>
            <a:r>
              <a:rPr lang="en-US" sz="1200" dirty="0"/>
              <a:t> Once the AI finishes reading, the code pulls out three specific pieces of info: </a:t>
            </a:r>
            <a:r>
              <a:rPr lang="en-US" sz="1200" b="1" dirty="0"/>
              <a:t>Vendor Name</a:t>
            </a:r>
            <a:r>
              <a:rPr lang="en-US" sz="1200" dirty="0"/>
              <a:t>, </a:t>
            </a:r>
            <a:r>
              <a:rPr lang="en-US" sz="1200" b="1" dirty="0"/>
              <a:t>Total Amount</a:t>
            </a:r>
            <a:r>
              <a:rPr lang="en-US" sz="1200" dirty="0"/>
              <a:t>, and </a:t>
            </a:r>
            <a:r>
              <a:rPr lang="en-US" sz="1200" b="1" dirty="0"/>
              <a:t>Invoice Date</a:t>
            </a:r>
            <a:r>
              <a:rPr lang="en-US" sz="1200" dirty="0"/>
              <a:t>.</a:t>
            </a:r>
          </a:p>
          <a:p>
            <a:r>
              <a:rPr lang="en-US" sz="1200" b="1" dirty="0"/>
              <a:t>The Final Save:</a:t>
            </a:r>
            <a:r>
              <a:rPr lang="en-US" sz="1200" dirty="0"/>
              <a:t> It takes those details and saves them into a structured SQL database table for the business to use.</a:t>
            </a:r>
          </a:p>
          <a:p>
            <a:pPr defTabSz="1288449">
              <a:defRPr/>
            </a:pPr>
            <a:endParaRPr lang="en-CA" sz="12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A423A-9BE9-DE4B-2170-EC3F71F4E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66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A25EA-63F0-E00C-9E19-5232BBF6E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95DB2-B787-9E7A-2B6A-B84DFE0D8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A92CE-081E-B76E-B854-250DB8F36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Key Steps in the Workflow</a:t>
            </a:r>
          </a:p>
          <a:p>
            <a:r>
              <a:rPr lang="en-US" sz="1200" b="1" dirty="0"/>
              <a:t>The Trigger:</a:t>
            </a:r>
            <a:r>
              <a:rPr lang="en-US" sz="1200" dirty="0"/>
              <a:t> The process starts automatically the moment a file is uploaded to a specific Azure storage folder.</a:t>
            </a:r>
          </a:p>
          <a:p>
            <a:r>
              <a:rPr lang="en-US" sz="1200" b="1" dirty="0"/>
              <a:t>The Brain (AI Integration):</a:t>
            </a:r>
            <a:r>
              <a:rPr lang="en-US" sz="1200" dirty="0"/>
              <a:t> The code sends the document to </a:t>
            </a:r>
            <a:r>
              <a:rPr lang="en-US" sz="1200" b="1" dirty="0"/>
              <a:t>Azure AI Document Intelligence</a:t>
            </a:r>
            <a:r>
              <a:rPr lang="en-US" sz="1200" dirty="0"/>
              <a:t>. We specifically use the "prebuilt-invoice" model, which is already trained to find things like vendor names and total amounts.</a:t>
            </a:r>
          </a:p>
          <a:p>
            <a:r>
              <a:rPr lang="en-US" sz="1200" b="1" dirty="0"/>
              <a:t>The Safety Net (Retry Logic):</a:t>
            </a:r>
            <a:r>
              <a:rPr lang="en-US" sz="1200" dirty="0"/>
              <a:t> Databases sometimes "sleep" to save costs. This code includes a "retry loop"—if the database is busy or waking up, the code waits 15 seconds and tries again rather than just failing.</a:t>
            </a:r>
          </a:p>
          <a:p>
            <a:r>
              <a:rPr lang="en-US" sz="1200" b="1" dirty="0"/>
              <a:t>Data Extraction:</a:t>
            </a:r>
            <a:r>
              <a:rPr lang="en-US" sz="1200" dirty="0"/>
              <a:t> Once the AI finishes reading, the code pulls out three specific pieces of info: </a:t>
            </a:r>
            <a:r>
              <a:rPr lang="en-US" sz="1200" b="1" dirty="0"/>
              <a:t>Vendor Name</a:t>
            </a:r>
            <a:r>
              <a:rPr lang="en-US" sz="1200" dirty="0"/>
              <a:t>, </a:t>
            </a:r>
            <a:r>
              <a:rPr lang="en-US" sz="1200" b="1" dirty="0"/>
              <a:t>Total Amount</a:t>
            </a:r>
            <a:r>
              <a:rPr lang="en-US" sz="1200" dirty="0"/>
              <a:t>, and </a:t>
            </a:r>
            <a:r>
              <a:rPr lang="en-US" sz="1200" b="1" dirty="0"/>
              <a:t>Invoice Date</a:t>
            </a:r>
            <a:r>
              <a:rPr lang="en-US" sz="1200" dirty="0"/>
              <a:t>.</a:t>
            </a:r>
          </a:p>
          <a:p>
            <a:r>
              <a:rPr lang="en-US" sz="1200" b="1" dirty="0"/>
              <a:t>The Final Save:</a:t>
            </a:r>
            <a:r>
              <a:rPr lang="en-US" sz="1200" dirty="0"/>
              <a:t> It takes those details and saves them into a structured SQL database table for the business to use.</a:t>
            </a:r>
          </a:p>
          <a:p>
            <a:pPr defTabSz="1288449">
              <a:defRPr/>
            </a:pPr>
            <a:endParaRPr lang="en-CA" sz="12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424FD-204F-0CB8-43F4-17E2649F51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04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C6BD7-FA7C-3FCD-DE57-4A582D2A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1DA6D-AEF3-C9D8-FD2A-56067A4C7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76DC4-6F45-5293-3A9F-188E1F84E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is an App Service Plan?</a:t>
            </a:r>
          </a:p>
          <a:p>
            <a:r>
              <a:rPr lang="en-US" dirty="0"/>
              <a:t>Think of the App Service Plan (ASP) as the </a:t>
            </a:r>
            <a:r>
              <a:rPr lang="en-US" b="1" dirty="0"/>
              <a:t>engine room</a:t>
            </a:r>
            <a:r>
              <a:rPr lang="en-US" dirty="0"/>
              <a:t> or the "server farm" where your web application lives and runs. It defines the physical resources—like the operating system, region, and price—that your app will use.</a:t>
            </a:r>
          </a:p>
          <a:p>
            <a:r>
              <a:rPr lang="en-US" dirty="0"/>
              <a:t>+1</a:t>
            </a:r>
          </a:p>
          <a:p>
            <a:r>
              <a:rPr lang="en-US" b="1" dirty="0"/>
              <a:t>The Setup Process</a:t>
            </a:r>
          </a:p>
          <a:p>
            <a:r>
              <a:rPr lang="en-US" b="1" dirty="0"/>
              <a:t>Find the Service:</a:t>
            </a:r>
            <a:r>
              <a:rPr lang="en-US" dirty="0"/>
              <a:t> Log into the Azure Portal and search for "App Service plan" to start the creation process.</a:t>
            </a:r>
          </a:p>
          <a:p>
            <a:r>
              <a:rPr lang="en-US" dirty="0"/>
              <a:t>+1</a:t>
            </a:r>
          </a:p>
          <a:p>
            <a:r>
              <a:rPr lang="en-US" b="1" dirty="0"/>
              <a:t>Organize Your Project:</a:t>
            </a:r>
            <a:r>
              <a:rPr lang="en-US" dirty="0"/>
              <a:t> Select your active subscription and the specific </a:t>
            </a:r>
            <a:r>
              <a:rPr lang="en-US" b="1" dirty="0"/>
              <a:t>Resource Group</a:t>
            </a:r>
            <a:r>
              <a:rPr lang="en-US" dirty="0"/>
              <a:t> you’ve dedicated to your project components.</a:t>
            </a:r>
          </a:p>
          <a:p>
            <a:r>
              <a:rPr lang="en-US" b="1" dirty="0"/>
              <a:t>Choose Your Environment:</a:t>
            </a:r>
            <a:r>
              <a:rPr lang="en-US" dirty="0"/>
              <a:t> * </a:t>
            </a:r>
            <a:r>
              <a:rPr lang="en-US" b="1" dirty="0"/>
              <a:t>Name:</a:t>
            </a:r>
            <a:r>
              <a:rPr lang="en-US" dirty="0"/>
              <a:t> Give it a unique name (e.g., IDP-Java-ASP).</a:t>
            </a:r>
          </a:p>
          <a:p>
            <a:pPr lvl="1"/>
            <a:r>
              <a:rPr lang="en-US" b="1" dirty="0"/>
              <a:t>OS:</a:t>
            </a:r>
            <a:r>
              <a:rPr lang="en-US" dirty="0"/>
              <a:t> For Java applications, </a:t>
            </a:r>
            <a:r>
              <a:rPr lang="en-US" b="1" dirty="0"/>
              <a:t>Linux</a:t>
            </a:r>
            <a:r>
              <a:rPr lang="en-US" dirty="0"/>
              <a:t> is the recommended choice.</a:t>
            </a:r>
          </a:p>
          <a:p>
            <a:pPr lvl="1"/>
            <a:r>
              <a:rPr lang="en-US" b="1" dirty="0"/>
              <a:t>Region:</a:t>
            </a:r>
            <a:r>
              <a:rPr lang="en-US" dirty="0"/>
              <a:t> Pick the same location (like East US) as your other services to keep everything fast and reduce lag.</a:t>
            </a:r>
          </a:p>
          <a:p>
            <a:r>
              <a:rPr lang="en-US" b="1" dirty="0"/>
              <a:t>Pick a Pricing Tier:</a:t>
            </a:r>
            <a:r>
              <a:rPr lang="en-US" dirty="0"/>
              <a:t> This is a crucial step. While "Standard" is often the default, you should click </a:t>
            </a:r>
            <a:r>
              <a:rPr lang="en-US" b="1" dirty="0"/>
              <a:t>"Change size"</a:t>
            </a:r>
            <a:r>
              <a:rPr lang="en-US" dirty="0"/>
              <a:t> to pick a tier that fits your needs. For testing, the </a:t>
            </a:r>
            <a:r>
              <a:rPr lang="en-US" b="1" dirty="0"/>
              <a:t>Basic (B1)</a:t>
            </a:r>
            <a:r>
              <a:rPr lang="en-US" dirty="0"/>
              <a:t> tier is usually sufficient.</a:t>
            </a:r>
          </a:p>
          <a:p>
            <a:r>
              <a:rPr lang="en-US" dirty="0"/>
              <a:t>+2</a:t>
            </a:r>
          </a:p>
          <a:p>
            <a:r>
              <a:rPr lang="en-US" b="1" dirty="0"/>
              <a:t>Finalizing</a:t>
            </a:r>
          </a:p>
          <a:p>
            <a:r>
              <a:rPr lang="en-US" dirty="0"/>
              <a:t>Review your settings—specifically the OS and Pricing Tier—and click </a:t>
            </a:r>
            <a:r>
              <a:rPr lang="en-US" b="1" dirty="0"/>
              <a:t>Create</a:t>
            </a:r>
            <a:r>
              <a:rPr lang="en-US" dirty="0"/>
              <a:t>. Once it’s ready, you can plug your actual web app (the WAR file) into this plan.</a:t>
            </a:r>
          </a:p>
          <a:p>
            <a:r>
              <a:rPr lang="en-US" dirty="0"/>
              <a:t>+1</a:t>
            </a:r>
          </a:p>
          <a:p>
            <a:pPr defTabSz="1288449"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03781-5272-BA9E-4BDE-C02BDE13D8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005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16EE7-BB97-A70D-76D9-8957CA6D4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6BC95-ACB6-BAC0-9E2D-24C3B9C4D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C2E47-896D-620E-8C01-DB495E661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we’re setting up two critical Azure components: </a:t>
            </a:r>
            <a:r>
              <a:rPr lang="en-US" sz="1200" b="1" dirty="0"/>
              <a:t>Blob Storage</a:t>
            </a:r>
            <a:r>
              <a:rPr lang="en-US" sz="1200" dirty="0"/>
              <a:t> for our raw files and </a:t>
            </a:r>
            <a:r>
              <a:rPr lang="en-US" sz="1200" b="1" dirty="0"/>
              <a:t>SQL Database</a:t>
            </a:r>
            <a:r>
              <a:rPr lang="en-US" sz="1200" dirty="0"/>
              <a:t> for our final structured data.</a:t>
            </a:r>
          </a:p>
          <a:p>
            <a:r>
              <a:rPr lang="en-US" sz="1200" dirty="0"/>
              <a:t>+1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Part 1: Azure Blob Storage (The Filing Cabinet)</a:t>
            </a:r>
          </a:p>
          <a:p>
            <a:r>
              <a:rPr lang="en-US" sz="1200" dirty="0"/>
              <a:t>Think of this as your cloud-based hard drive.</a:t>
            </a:r>
          </a:p>
          <a:p>
            <a:r>
              <a:rPr lang="en-US" sz="1200" b="1" dirty="0"/>
              <a:t>The Basics:</a:t>
            </a:r>
            <a:r>
              <a:rPr lang="en-US" sz="1200" dirty="0"/>
              <a:t> When creating your storage account, give it a unique name and pick a region close to you to keep things fast.</a:t>
            </a:r>
          </a:p>
          <a:p>
            <a:r>
              <a:rPr lang="en-US" sz="1200" b="1" dirty="0"/>
              <a:t>Containers:</a:t>
            </a:r>
            <a:r>
              <a:rPr lang="en-US" sz="1200" dirty="0"/>
              <a:t> Once it's built, create a folder called </a:t>
            </a:r>
            <a:r>
              <a: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raw-uploads</a:t>
            </a:r>
            <a:r>
              <a:rPr lang="en-US" sz="1200" dirty="0"/>
              <a:t>. This is exactly where our application will drop files for processing.</a:t>
            </a:r>
          </a:p>
          <a:p>
            <a:r>
              <a:rPr lang="en-US" sz="1200" dirty="0"/>
              <a:t>+2</a:t>
            </a:r>
          </a:p>
          <a:p>
            <a:r>
              <a:rPr lang="en-US" sz="1200" b="1" dirty="0"/>
              <a:t>The Key:</a:t>
            </a:r>
            <a:r>
              <a:rPr lang="en-US" sz="1200" dirty="0"/>
              <a:t> To let our app talk to this storage, we need to copy the </a:t>
            </a:r>
            <a:r>
              <a:rPr lang="en-US" sz="1200" b="1" dirty="0"/>
              <a:t>Connection String</a:t>
            </a:r>
            <a:r>
              <a:rPr lang="en-US" sz="1200" dirty="0"/>
              <a:t> from the "Access keys" menu. This is the "password" our code uses to log in.</a:t>
            </a:r>
          </a:p>
          <a:p>
            <a:r>
              <a:rPr lang="en-US" sz="1200" b="1" dirty="0"/>
              <a:t>Part 2: Azure SQL Database (The Data Vault)</a:t>
            </a:r>
          </a:p>
          <a:p>
            <a:r>
              <a:rPr lang="en-US" sz="1200" dirty="0"/>
              <a:t>This is where the AI will save the final, organized information it finds.</a:t>
            </a:r>
          </a:p>
          <a:p>
            <a:r>
              <a:rPr lang="en-US" sz="1200" b="1" dirty="0"/>
              <a:t>Server Setup:</a:t>
            </a:r>
            <a:r>
              <a:rPr lang="en-US" sz="1200" dirty="0"/>
              <a:t> You’ll need to create a new server and set up an admin username and password. </a:t>
            </a:r>
            <a:r>
              <a:rPr lang="en-US" sz="1200" b="1" dirty="0"/>
              <a:t>Keep these credentials safe</a:t>
            </a:r>
            <a:r>
              <a:rPr lang="en-US" sz="1200" dirty="0"/>
              <a:t> as you’ll need them later.</a:t>
            </a:r>
          </a:p>
          <a:p>
            <a:r>
              <a:rPr lang="en-US" sz="1200" dirty="0"/>
              <a:t>+2</a:t>
            </a:r>
          </a:p>
          <a:p>
            <a:r>
              <a:rPr lang="en-US" sz="1200" b="1" dirty="0"/>
              <a:t>Connectivity (The "Crucial" Step):</a:t>
            </a:r>
            <a:r>
              <a:rPr lang="en-US" sz="1200" dirty="0"/>
              <a:t> Under the Networking tab, you </a:t>
            </a:r>
            <a:r>
              <a:rPr lang="en-US" sz="1200" b="1" dirty="0"/>
              <a:t>must</a:t>
            </a:r>
            <a:r>
              <a:rPr lang="en-US" sz="1200" dirty="0"/>
              <a:t> select "Public endpoint" and set "Allow Azure services... to access this server" to </a:t>
            </a:r>
            <a:r>
              <a:rPr lang="en-US" sz="1200" b="1" dirty="0"/>
              <a:t>Yes</a:t>
            </a:r>
            <a:r>
              <a:rPr lang="en-US" sz="1200" dirty="0"/>
              <a:t>. Without this, your Azure Functions won't be able to save data to the database.</a:t>
            </a:r>
          </a:p>
          <a:p>
            <a:r>
              <a:rPr lang="en-US" sz="1200" dirty="0"/>
              <a:t>+1</a:t>
            </a:r>
          </a:p>
          <a:p>
            <a:r>
              <a:rPr lang="en-US" sz="1200" b="1" dirty="0"/>
              <a:t>JDBC String:</a:t>
            </a:r>
            <a:r>
              <a:rPr lang="en-US" sz="1200" dirty="0"/>
              <a:t> Finally, copy the </a:t>
            </a:r>
            <a:r>
              <a:rPr lang="en-US" sz="1200" b="1" dirty="0"/>
              <a:t>JDBC connection string</a:t>
            </a:r>
            <a:r>
              <a:rPr lang="en-US" sz="1200" dirty="0"/>
              <a:t>. Since we are using Java, this specific string is what our application needs to find and talk to the database.</a:t>
            </a:r>
          </a:p>
          <a:p>
            <a:r>
              <a:rPr lang="en-US" sz="1200" dirty="0"/>
              <a:t>+1</a:t>
            </a:r>
          </a:p>
          <a:p>
            <a:pPr defTabSz="1288449"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71D70-F7C4-6896-A0D2-A640941349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99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F6B53-5C76-4DD9-BCDB-E6DAD96D8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B2B4C-21C2-5376-1A93-D393E5000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674D2E-B6A7-1E9F-52A5-E6F5EC537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Deploying Your Java Web App to Azure</a:t>
            </a:r>
          </a:p>
          <a:p>
            <a:r>
              <a:rPr lang="en-US" sz="1200" dirty="0"/>
              <a:t>This final stage is where we take our local Java code and make it live on the internet using a </a:t>
            </a:r>
            <a:r>
              <a:rPr lang="en-US" sz="1200" b="1" dirty="0"/>
              <a:t>WAR file</a:t>
            </a:r>
            <a:r>
              <a:rPr lang="en-US" sz="1200" dirty="0"/>
              <a:t>.</a:t>
            </a:r>
          </a:p>
          <a:p>
            <a:r>
              <a:rPr lang="en-US" sz="1200" dirty="0"/>
              <a:t>+1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The Deployment Workflow</a:t>
            </a:r>
          </a:p>
          <a:p>
            <a:r>
              <a:rPr lang="en-US" sz="1200" b="1" dirty="0"/>
              <a:t>Packaging the App:</a:t>
            </a:r>
            <a:r>
              <a:rPr lang="en-US" sz="1200" dirty="0"/>
              <a:t> First, we bundle all our code, pages, and settings into a single file called a </a:t>
            </a:r>
            <a:r>
              <a:rPr lang="en-US" sz="1200" b="1" dirty="0"/>
              <a:t>WAR (Web Application Archive)</a:t>
            </a:r>
            <a:r>
              <a:rPr lang="en-US" sz="1200" dirty="0"/>
              <a:t>. Think of this as a zip folder designed specifically for web servers.</a:t>
            </a:r>
          </a:p>
          <a:p>
            <a:r>
              <a:rPr lang="en-US" sz="1200" dirty="0"/>
              <a:t>+1</a:t>
            </a:r>
          </a:p>
          <a:p>
            <a:r>
              <a:rPr lang="en-US" sz="1200" b="1" dirty="0"/>
              <a:t>Setting up the Host:</a:t>
            </a:r>
            <a:r>
              <a:rPr lang="en-US" sz="1200" dirty="0"/>
              <a:t> In the Azure Portal, we create an </a:t>
            </a:r>
            <a:r>
              <a:rPr lang="en-US" sz="1200" b="1" dirty="0"/>
              <a:t>App Service</a:t>
            </a:r>
            <a:r>
              <a:rPr lang="en-US" sz="1200" dirty="0"/>
              <a:t>. We must select </a:t>
            </a:r>
            <a:r>
              <a:rPr lang="en-US" sz="1200" b="1" dirty="0"/>
              <a:t>Java</a:t>
            </a:r>
            <a:r>
              <a:rPr lang="en-US" sz="1200" dirty="0"/>
              <a:t> as our runtime and </a:t>
            </a:r>
            <a:r>
              <a:rPr lang="en-US" sz="1200" b="1" dirty="0"/>
              <a:t>Tomcat</a:t>
            </a:r>
            <a:r>
              <a:rPr lang="en-US" sz="1200" dirty="0"/>
              <a:t> as our web server, which acts as the container that runs our code.</a:t>
            </a:r>
          </a:p>
          <a:p>
            <a:r>
              <a:rPr lang="en-US" sz="1200" dirty="0"/>
              <a:t>+1</a:t>
            </a:r>
          </a:p>
          <a:p>
            <a:r>
              <a:rPr lang="en-US" sz="1200" b="1" dirty="0"/>
              <a:t>Connecting the Dots:</a:t>
            </a:r>
            <a:r>
              <a:rPr lang="en-US" sz="1200" dirty="0"/>
              <a:t> Under "Configuration," we must add our </a:t>
            </a:r>
            <a:r>
              <a:rPr lang="en-US" sz="1200" b="1" dirty="0"/>
              <a:t>Environment Variables</a:t>
            </a:r>
            <a:r>
              <a:rPr lang="en-US" sz="1200" dirty="0"/>
              <a:t>. This includes the storage connection strings and database links we gathered earlier. This allows the app to talk to the rest of our Azure tools securely.</a:t>
            </a:r>
          </a:p>
          <a:p>
            <a:endParaRPr lang="en-US" sz="1200" dirty="0"/>
          </a:p>
          <a:p>
            <a:r>
              <a:rPr lang="en-US" sz="1200" b="1" dirty="0"/>
              <a:t>Uploading the File:</a:t>
            </a:r>
            <a:r>
              <a:rPr lang="en-US" sz="1200" dirty="0"/>
              <a:t> To get our code onto the server, we can use an FTP client like FileZilla. We simply drop the WAR file into the </a:t>
            </a:r>
            <a:r>
              <a: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/site/</a:t>
            </a:r>
            <a:r>
              <a:rPr lang="en-US" sz="1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wwwroot</a:t>
            </a:r>
            <a:r>
              <a: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/webapps/</a:t>
            </a:r>
            <a:r>
              <a:rPr lang="en-US" sz="1200" dirty="0"/>
              <a:t> folder, and the server will automatically start it up.</a:t>
            </a:r>
          </a:p>
          <a:p>
            <a:endParaRPr lang="en-US" sz="1200" dirty="0"/>
          </a:p>
          <a:p>
            <a:r>
              <a:rPr lang="en-US" sz="1200" b="1" dirty="0"/>
              <a:t>Verifying Success</a:t>
            </a:r>
          </a:p>
          <a:p>
            <a:r>
              <a:rPr lang="en-US" sz="1200" dirty="0"/>
              <a:t>Once uploaded, we visit our app’s URL. We need to test the </a:t>
            </a:r>
            <a:r>
              <a:rPr lang="en-US" sz="1200" b="1" dirty="0"/>
              <a:t>Ingestion UI</a:t>
            </a:r>
            <a:r>
              <a:rPr lang="en-US" sz="1200" dirty="0"/>
              <a:t> to see if file uploads work and the </a:t>
            </a:r>
            <a:r>
              <a:rPr lang="en-US" sz="1200" b="1" dirty="0"/>
              <a:t>Reviewer UI</a:t>
            </a:r>
            <a:r>
              <a:rPr lang="en-US" sz="1200" dirty="0"/>
              <a:t> to ensure our data logic is pulling information correctly from the database.</a:t>
            </a:r>
          </a:p>
          <a:p>
            <a:pPr defTabSz="1288449"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D152C-BB55-3BAA-21AD-D963C66EB1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797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57862-2502-FC9C-B1AF-4EE86130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2A44F-CA36-2B62-77AB-F27B03798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B32B5-0DE7-3BEF-5807-5F90B4137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1288449"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77615-ADC2-F20D-FED2-6A4C865163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48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EF6FC-2E57-F97D-EFE7-751249B2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56C35-3DD2-08ED-CD72-EB9193F1D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D6DB0-9F23-10F8-5669-AAF762AF1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This screen represents the </a:t>
            </a:r>
            <a:r>
              <a:rPr lang="en-US" sz="1200" b="1" dirty="0"/>
              <a:t>Ingestion UI</a:t>
            </a:r>
            <a:r>
              <a:rPr lang="en-US" sz="1200" dirty="0"/>
              <a:t>, the front-facing part of the application where the process begins. It is a simple, user-friendly interface designed for non-technical users to submit documents for AI analysis.</a:t>
            </a:r>
          </a:p>
          <a:p>
            <a:r>
              <a:rPr lang="en-US" sz="1200" b="1" dirty="0"/>
              <a:t>Document Entry:</a:t>
            </a:r>
            <a:r>
              <a:rPr lang="en-US" sz="1200" dirty="0"/>
              <a:t> Users can specify the document type, such as an "Invoice" or "Receipt," to help categorize the data.</a:t>
            </a:r>
          </a:p>
          <a:p>
            <a:r>
              <a:rPr lang="en-US" sz="1200" b="1" dirty="0"/>
              <a:t>File Selection:</a:t>
            </a:r>
            <a:r>
              <a:rPr lang="en-US" sz="1200" dirty="0"/>
              <a:t> The "Browse" button allows users to select a specific file from their computer, like the "Invoice-Global Logistics.pdf" seen here.</a:t>
            </a:r>
          </a:p>
          <a:p>
            <a:r>
              <a:rPr lang="en-US" sz="1200" b="1" dirty="0"/>
              <a:t>Triggering the Workflow:</a:t>
            </a:r>
            <a:r>
              <a:rPr lang="en-US" sz="1200" dirty="0"/>
              <a:t> Clicking </a:t>
            </a:r>
            <a:r>
              <a:rPr lang="en-US" sz="1200" b="1" dirty="0"/>
              <a:t>Upload Document</a:t>
            </a:r>
            <a:r>
              <a:rPr lang="en-US" sz="1200" dirty="0"/>
              <a:t> sends the file to the Azure Blob Storage "raw-uploads" container.</a:t>
            </a:r>
          </a:p>
          <a:p>
            <a:r>
              <a:rPr lang="en-US" sz="1200" b="1" dirty="0"/>
              <a:t>Automated Start:</a:t>
            </a:r>
            <a:r>
              <a:rPr lang="en-US" sz="1200" dirty="0"/>
              <a:t> This single click is what triggers the entire automated backend—from the AI reading the text to saving the data into our SQL database.</a:t>
            </a:r>
          </a:p>
          <a:p>
            <a:pPr defTabSz="1288449"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BEAD6-ED4E-6131-93CA-82641E2459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7159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8EB49-02EB-CE31-E129-951E9F063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BC517-C017-E2BC-2678-CEEAD8034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28F1F-97FE-31D8-DAF8-BFECBB550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The Ingestion UI: From Upload to Cloud</a:t>
            </a:r>
          </a:p>
          <a:p>
            <a:r>
              <a:rPr lang="en-US" sz="1200" dirty="0"/>
              <a:t>These screens show the </a:t>
            </a:r>
            <a:r>
              <a:rPr lang="en-US" sz="1200" b="1" dirty="0"/>
              <a:t>User Interface (UI)</a:t>
            </a:r>
            <a:r>
              <a:rPr lang="en-US" sz="1200" dirty="0"/>
              <a:t> where our document processing journey begins.</a:t>
            </a:r>
          </a:p>
          <a:p>
            <a:r>
              <a:rPr lang="en-US" sz="1200" b="1" dirty="0"/>
              <a:t>User Entry:</a:t>
            </a:r>
            <a:r>
              <a:rPr lang="en-US" sz="1200" dirty="0"/>
              <a:t> The first screen is a simple web form where a user selects a document type and browses for a file, like the "Invoice-Global Logistics.pdf" shown here.</a:t>
            </a:r>
          </a:p>
          <a:p>
            <a:r>
              <a:rPr lang="en-US" sz="1200" b="1" dirty="0"/>
              <a:t>The Action:</a:t>
            </a:r>
            <a:r>
              <a:rPr lang="en-US" sz="1200" dirty="0"/>
              <a:t> When the user clicks </a:t>
            </a:r>
            <a:r>
              <a:rPr lang="en-US" sz="1200" b="1" dirty="0"/>
              <a:t>Upload Document</a:t>
            </a:r>
            <a:r>
              <a:rPr lang="en-US" sz="1200" dirty="0"/>
              <a:t>, the system packages the file and sends it to our Azure Blob Storage.</a:t>
            </a:r>
          </a:p>
          <a:p>
            <a:r>
              <a:rPr lang="en-US" sz="1200" b="1" dirty="0"/>
              <a:t>Confirmation:</a:t>
            </a:r>
            <a:r>
              <a:rPr lang="en-US" sz="1200" dirty="0"/>
              <a:t> The second screen confirms the upload was successful, showing a unique ID generated for the file.</a:t>
            </a:r>
          </a:p>
          <a:p>
            <a:r>
              <a:rPr lang="en-US" sz="1200" b="1" dirty="0"/>
              <a:t>The Invisible Trigger:</a:t>
            </a:r>
            <a:r>
              <a:rPr lang="en-US" sz="1200" dirty="0"/>
              <a:t> Behind the scenes, this successful upload is exactly what wakes up our </a:t>
            </a:r>
            <a:r>
              <a:rPr lang="en-US" sz="1200" b="1" dirty="0"/>
              <a:t>Azure Function</a:t>
            </a:r>
            <a:r>
              <a:rPr lang="en-US" sz="1200" dirty="0"/>
              <a:t> to start the AI analysis.</a:t>
            </a:r>
          </a:p>
          <a:p>
            <a:r>
              <a:rPr lang="en-US" sz="1200" dirty="0"/>
              <a:t>This simple interaction replaces manual data entry by kicking off the entire automated pipeline.</a:t>
            </a:r>
          </a:p>
          <a:p>
            <a:pPr defTabSz="1288449"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77E8A-B926-DB8B-B70F-7BA4AF2D26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276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C1198-BFF0-1118-F793-3EFACFECA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4F391-BFF2-F1CE-0E47-CDD861319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483C5-7061-76B8-EB20-CCB16147C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Behind the Scenes: The Execution Logs</a:t>
            </a:r>
          </a:p>
          <a:p>
            <a:r>
              <a:rPr lang="en-US" sz="1200" dirty="0"/>
              <a:t>This screen displays the </a:t>
            </a:r>
            <a:r>
              <a:rPr lang="en-US" sz="1200" b="1" dirty="0"/>
              <a:t>system logs</a:t>
            </a:r>
            <a:r>
              <a:rPr lang="en-US" sz="1200" dirty="0"/>
              <a:t>, which provide a real-time "heartbeat" of our automated process. It proves that the code we discussed is working exactly as planned.</a:t>
            </a:r>
          </a:p>
          <a:p>
            <a:r>
              <a:rPr lang="en-US" sz="1200" b="1" dirty="0"/>
              <a:t>Triggering the Function</a:t>
            </a:r>
            <a:r>
              <a:rPr lang="en-US" sz="1200" dirty="0"/>
              <a:t>: You can see the </a:t>
            </a:r>
            <a:r>
              <a:rPr lang="en-US" sz="1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DocumentAnalysisTrigger</a:t>
            </a:r>
            <a:r>
              <a:rPr lang="en-US" sz="1200" dirty="0"/>
              <a:t> being "invoked" the moment it detects a new file in the storage container.</a:t>
            </a:r>
          </a:p>
          <a:p>
            <a:r>
              <a:rPr lang="en-US" sz="1200" b="1" dirty="0"/>
              <a:t>Database Connectivity</a:t>
            </a:r>
            <a:r>
              <a:rPr lang="en-US" sz="1200" dirty="0"/>
              <a:t>: The logs show the "Connecting to Database" step, confirming the system is establishing a secure link to save the results.</a:t>
            </a:r>
          </a:p>
          <a:p>
            <a:r>
              <a:rPr lang="en-US" sz="1200" b="1" dirty="0"/>
              <a:t>Successful Processing</a:t>
            </a:r>
            <a:r>
              <a:rPr lang="en-US" sz="1200" dirty="0"/>
              <a:t>: Each entry ending in "Successfully saved record" means the AI successfully read the invoice and the data—like "GLOBAL LOGISTICS LTD"—is now safely stored in our SQL database.</a:t>
            </a:r>
          </a:p>
          <a:p>
            <a:r>
              <a:rPr lang="en-US" sz="1200" b="1" dirty="0"/>
              <a:t>Speed and Efficiency</a:t>
            </a:r>
            <a:r>
              <a:rPr lang="en-US" sz="1200" dirty="0"/>
              <a:t>: Notice the "Duration" timestamps; the entire AI analysis and database save happens in just a few seconds.</a:t>
            </a:r>
          </a:p>
          <a:p>
            <a:pPr defTabSz="1288449"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AF186-CD42-8684-769B-ACCE219B70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554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1EBF2-D566-C469-0EFA-C2F4A8612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B62F4E-D6EB-BD8F-1BF5-4F28CCD67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2A7484-C47D-5AFC-2045-696F35059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Azure Storage: The Document Landing Zone</a:t>
            </a:r>
          </a:p>
          <a:p>
            <a:r>
              <a:rPr lang="en-US" sz="1200" dirty="0"/>
              <a:t>This screen shows the </a:t>
            </a:r>
            <a:r>
              <a:rPr lang="en-US" sz="1200" b="1" dirty="0"/>
              <a:t>Azure Blob Storage portal</a:t>
            </a:r>
            <a:r>
              <a:rPr lang="en-US" sz="1200" dirty="0"/>
              <a:t>, specifically the container where our uploaded files are kept.</a:t>
            </a:r>
          </a:p>
          <a:p>
            <a:r>
              <a:rPr lang="en-US" sz="1200" b="1" dirty="0"/>
              <a:t>Central Storage</a:t>
            </a:r>
            <a:r>
              <a:rPr lang="en-US" sz="1200" dirty="0"/>
              <a:t>: After a user uploads a document through the UI, it arrives here in the </a:t>
            </a:r>
            <a:r>
              <a:rPr lang="en-US" sz="1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idp</a:t>
            </a:r>
            <a:r>
              <a: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-documents</a:t>
            </a:r>
            <a:r>
              <a:rPr lang="en-US" sz="1200" dirty="0"/>
              <a:t> container.</a:t>
            </a:r>
          </a:p>
          <a:p>
            <a:r>
              <a:rPr lang="en-US" sz="1200" b="1" dirty="0"/>
              <a:t>Verification</a:t>
            </a:r>
            <a:r>
              <a:rPr lang="en-US" sz="1200" dirty="0"/>
              <a:t>: You can see the specific file—</a:t>
            </a:r>
            <a:r>
              <a:rPr lang="en-US" sz="1200" b="1" dirty="0"/>
              <a:t>"Invoice-Global Logistics.pdf"</a:t>
            </a:r>
            <a:r>
              <a:rPr lang="en-US" sz="1200" dirty="0"/>
              <a:t>—sitting in the list, confirming that the transfer from our web app to the cloud was successful.</a:t>
            </a:r>
          </a:p>
          <a:p>
            <a:r>
              <a:rPr lang="en-US" sz="1200" b="1" dirty="0"/>
              <a:t>Trigger Mechanism</a:t>
            </a:r>
            <a:r>
              <a:rPr lang="en-US" sz="1200" dirty="0"/>
              <a:t>: The presence of this file is what the </a:t>
            </a:r>
            <a:r>
              <a:rPr lang="en-US" sz="1200" b="1" dirty="0"/>
              <a:t>Azure Function</a:t>
            </a:r>
            <a:r>
              <a:rPr lang="en-US" sz="1200" dirty="0"/>
              <a:t> is constantly watching for. As soon as it appears, the AI processing starts automatically.</a:t>
            </a:r>
          </a:p>
          <a:p>
            <a:r>
              <a:rPr lang="en-US" sz="1200" b="1" dirty="0"/>
              <a:t>Metadata</a:t>
            </a:r>
            <a:r>
              <a:rPr lang="en-US" sz="1200" dirty="0"/>
              <a:t>: The portal tracks when the file arrived and its size, providing an audit trail for every document </a:t>
            </a:r>
            <a:r>
              <a:rPr lang="en-US" sz="1200" dirty="0" err="1"/>
              <a:t>enterring</a:t>
            </a:r>
            <a:r>
              <a:rPr lang="en-US" sz="1200" dirty="0"/>
              <a:t> the system.</a:t>
            </a:r>
          </a:p>
          <a:p>
            <a:pPr defTabSz="1288449"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44B69-841A-BE4B-5210-04A0766CA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5392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02D00-9E5E-DB0C-55C3-2E206D354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7050E3-8EC8-52A5-96FE-26EFDEFB2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77B32-1123-52AD-4BFD-95ADBBFBE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he Final Destination: Your Validated Data</a:t>
            </a:r>
          </a:p>
          <a:p>
            <a:r>
              <a:rPr lang="en-US" sz="1200" dirty="0"/>
              <a:t>This screen displays the </a:t>
            </a:r>
            <a:r>
              <a:rPr lang="en-US" sz="1200" b="1" dirty="0"/>
              <a:t>Azure SQL Database Query Editor</a:t>
            </a:r>
            <a:r>
              <a:rPr lang="en-US" sz="1200" dirty="0"/>
              <a:t>, showing the final result of our automated pipeline. It is the "vault" where our structured data now lives.</a:t>
            </a:r>
          </a:p>
          <a:p>
            <a:r>
              <a:rPr lang="en-US" sz="1200" b="1" dirty="0"/>
              <a:t>Data Confirmation:</a:t>
            </a:r>
            <a:r>
              <a:rPr lang="en-US" sz="1200" dirty="0"/>
              <a:t> By running a simple search, we can see that the AI successfully extracted key details from the invoice—specifically the </a:t>
            </a:r>
            <a:r>
              <a:rPr lang="en-US" sz="1200" b="1" dirty="0"/>
              <a:t>Vendor Name</a:t>
            </a:r>
            <a:r>
              <a:rPr lang="en-US" sz="1200" dirty="0"/>
              <a:t> (GLOBAL LOGISTICS LTD.), the </a:t>
            </a:r>
            <a:r>
              <a:rPr lang="en-US" sz="1200" b="1" dirty="0"/>
              <a:t>Total Amount</a:t>
            </a:r>
            <a:r>
              <a:rPr lang="en-US" sz="1200" dirty="0"/>
              <a:t> (2350.50), and the </a:t>
            </a:r>
            <a:r>
              <a:rPr lang="en-US" sz="1200" b="1" dirty="0"/>
              <a:t>Invoice Date</a:t>
            </a:r>
            <a:r>
              <a:rPr lang="en-US" sz="1200" dirty="0"/>
              <a:t>.</a:t>
            </a:r>
          </a:p>
          <a:p>
            <a:r>
              <a:rPr lang="en-US" sz="1200" b="1" dirty="0"/>
              <a:t>Automatic Recording:</a:t>
            </a:r>
            <a:r>
              <a:rPr lang="en-US" sz="1200" dirty="0"/>
              <a:t> You’ll notice the </a:t>
            </a:r>
            <a:r>
              <a:rPr lang="en-US" sz="1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ProcessedTimestamp</a:t>
            </a:r>
            <a:r>
              <a:rPr lang="en-US" sz="1200" dirty="0"/>
              <a:t> column; this was automatically generated by our code to track exactly when the document was handled.</a:t>
            </a:r>
          </a:p>
          <a:p>
            <a:r>
              <a:rPr lang="en-US" sz="1200" b="1" dirty="0"/>
              <a:t>Ready for Business:</a:t>
            </a:r>
            <a:r>
              <a:rPr lang="en-US" sz="1200" dirty="0"/>
              <a:t> This data is no longer trapped in a PDF. It is now in a clean, digital format that can be used for financial reports, payment processing, or audits without any manual typing</a:t>
            </a:r>
          </a:p>
          <a:p>
            <a:pPr defTabSz="1288449"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DF7A1-0713-D895-B570-295BB2451E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378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D781D-95DE-E2B3-E4F4-449283CA6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792878-E78A-14C2-DA1A-8FC228621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D9F3BC-8807-6ED0-2AF8-F064EE296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1288449"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E193E-7E1F-9EAB-1DFD-EF6E2CBFCE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701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5C9CE-40B9-ABB2-8F12-0416B5521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D6DA1-C5C5-2499-6095-A2E0F77B7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8C1B98-FE00-6BA5-A8B7-C3E1199F7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1288449"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8A988-EB2B-FB66-4530-AADA977E0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646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13" name="Rectangle 12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0" y="0"/>
              <a:ext cx="4742741" cy="6858000"/>
              <a:chOff x="0" y="0"/>
              <a:chExt cx="4742741" cy="6858000"/>
            </a:xfrm>
          </p:grpSpPr>
          <p:pic>
            <p:nvPicPr>
              <p:cNvPr id="9" name="Picture 8" descr="Stacked books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4605581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9346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9346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6A09E-12D5-4B1D-B8BB-C300B1DDD423}" type="datetime1">
              <a:rPr lang="en-US" smtClean="0"/>
              <a:t>5/10/2026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12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377B-053C-438C-8A98-92C419A6701C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818" y="0"/>
              <a:ext cx="4591594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7481252" y="0"/>
              <a:ext cx="13716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tx2"/>
                </a:solidFill>
              </a:endParaRPr>
            </a:p>
          </p:txBody>
        </p:sp>
      </p:grpSp>
      <p:pic>
        <p:nvPicPr>
          <p:cNvPr id="5" name="Picture 4" descr="Stacked book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818" y="0"/>
            <a:ext cx="4591594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37149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237149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EF46-0123-4A75-9835-49DC49D53DE2}" type="datetime1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2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buFont typeface="Century Gothic" panose="020B0502020202020204" pitchFamily="34" charset="0"/>
              <a:buChar char="–"/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8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378D-18AE-47D1-B10A-42F623B40082}" type="datetime1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6AE8-D704-41F6-B16A-5547B5672AC1}" type="datetime1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9538-6F63-4C0B-916D-ED3F4E0A1B28}" type="datetime1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15BF-7116-4A9E-8022-5A2DC937F971}" type="datetime1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2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418976" indent="-285750">
              <a:buFont typeface="Century Gothic" panose="020B0502020202020204" pitchFamily="34" charset="0"/>
              <a:buChar char="–"/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612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8DC91-5A3B-40CE-8C1D-279A8EF6E008}" type="datetime1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1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C20A-B94A-4E20-B4B2-88A7825AE904}" type="datetime1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7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CA53D-4C84-40AA-983E-A1E818A7FEFC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1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CEE-AE66-4EAB-9C04-97F8A56A6354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9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10" name="Rectangle 9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721" y="0"/>
              <a:ext cx="11579384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859468AF-EFCF-4AAD-ACF4-3BA83EC4AF4E}" type="datetime1">
              <a:rPr lang="en-US" smtClean="0"/>
              <a:pPr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b="0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.docx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.docx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sz="32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Intelligent Document Processing System(IDP)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Pendyala’s AI Hub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sz="3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14-Dec-2025</a:t>
            </a:r>
          </a:p>
        </p:txBody>
      </p:sp>
    </p:spTree>
    <p:extLst>
      <p:ext uri="{BB962C8B-B14F-4D97-AF65-F5344CB8AC3E}">
        <p14:creationId xmlns:p14="http://schemas.microsoft.com/office/powerpoint/2010/main" val="16898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309" y="1412776"/>
            <a:ext cx="10157354" cy="4824536"/>
          </a:xfr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33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Title</a:t>
            </a:r>
            <a:r>
              <a:rPr lang="en-CA" sz="2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en-CA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CA" sz="3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CA" sz="33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Intelligent Document Processing System</a:t>
            </a:r>
            <a:r>
              <a:rPr lang="en-CA" sz="33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33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Name: </a:t>
            </a:r>
            <a:r>
              <a:rPr lang="en-CA" sz="33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Mr.Subrahmanya B Pendyala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33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CA" sz="33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14-Dec-2025</a:t>
            </a:r>
            <a:endParaRPr lang="en-CA" sz="22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32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0D3FA-D6CD-1F1C-8B3B-DDE04C3C8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0007C-F188-6C92-6346-2A21C7D5A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1193800"/>
            <a:ext cx="8775604" cy="4470400"/>
          </a:xfr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Project Goal:</a:t>
            </a:r>
            <a:r>
              <a:rPr lang="en-US" sz="1600" dirty="0"/>
              <a:t> To build an </a:t>
            </a:r>
            <a:r>
              <a:rPr lang="en-US" sz="1600" b="1" dirty="0"/>
              <a:t>Intelligent Document Processing (IDP) System</a:t>
            </a:r>
            <a:r>
              <a:rPr lang="en-US" sz="1600" dirty="0"/>
              <a:t> using Azure AI to automatically read and extract key information (like totals, names, and tables) from documents such as invoices and receipts.</a:t>
            </a:r>
          </a:p>
          <a:p>
            <a:pPr marL="0" indent="0">
              <a:buNone/>
            </a:pPr>
            <a:r>
              <a:rPr lang="en-US" sz="1600" b="1" dirty="0"/>
              <a:t>Core Technology:</a:t>
            </a:r>
            <a:r>
              <a:rPr lang="en-US" sz="1600" dirty="0"/>
              <a:t> The system relies on </a:t>
            </a:r>
            <a:r>
              <a:rPr lang="en-US" sz="1600" b="1" dirty="0"/>
              <a:t>Azure AI Document Intelligence</a:t>
            </a:r>
            <a:r>
              <a:rPr lang="en-US" sz="1600" dirty="0"/>
              <a:t> (which includes advanced Optical Character Recognition, or OCR) to structure the data.</a:t>
            </a:r>
          </a:p>
          <a:p>
            <a:pPr marL="0" indent="0">
              <a:buNone/>
            </a:pPr>
            <a:r>
              <a:rPr lang="en-US" sz="1600" b="1" dirty="0"/>
              <a:t>Key Outcome:</a:t>
            </a:r>
            <a:r>
              <a:rPr lang="en-US" sz="1600" dirty="0"/>
              <a:t> It eliminates the need for manual data entry, allowing the computer to handle the repetitive task of reading documents.</a:t>
            </a:r>
          </a:p>
          <a:p>
            <a:pPr marL="0" indent="0">
              <a:buNone/>
            </a:pPr>
            <a:r>
              <a:rPr lang="en-US" sz="1600" b="1" dirty="0"/>
              <a:t>Business Value:</a:t>
            </a:r>
            <a:r>
              <a:rPr lang="en-US" sz="1600" dirty="0"/>
              <a:t> This drastically speeds up crucial financial processes like </a:t>
            </a:r>
            <a:r>
              <a:rPr lang="en-US" sz="1600" b="1" dirty="0"/>
              <a:t>Accounts Payable and claims processing</a:t>
            </a:r>
            <a:r>
              <a:rPr lang="en-US" sz="1600" dirty="0"/>
              <a:t>, saving time and reducing human errors.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75653AA-7911-716A-1B1B-3C56EFD5B555}"/>
              </a:ext>
            </a:extLst>
          </p:cNvPr>
          <p:cNvSpPr txBox="1">
            <a:spLocks/>
          </p:cNvSpPr>
          <p:nvPr/>
        </p:nvSpPr>
        <p:spPr>
          <a:xfrm>
            <a:off x="909836" y="188361"/>
            <a:ext cx="8751085" cy="720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118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CB902-6CD2-831D-697C-D620E4225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7AA51-664C-CC4A-FB4B-CFC67108A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1193800"/>
            <a:ext cx="8775604" cy="4470400"/>
          </a:xfr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>
                <a:solidFill>
                  <a:srgbClr val="00B050"/>
                </a:solidFill>
              </a:rPr>
              <a:t>Data Flow Steps</a:t>
            </a:r>
          </a:p>
          <a:p>
            <a:pPr marL="0" indent="0">
              <a:buNone/>
            </a:pPr>
            <a:endParaRPr lang="en-CA" sz="1600" b="1" dirty="0"/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CA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Ingestion :</a:t>
            </a:r>
            <a:r>
              <a:rPr lang="en-CA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uploads document via JSP/Servlet.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CA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 lands in </a:t>
            </a:r>
            <a:r>
              <a:rPr lang="en-C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Blob Storage Input Container (raw-uploads)</a:t>
            </a:r>
            <a:r>
              <a:rPr lang="en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 :</a:t>
            </a:r>
            <a:r>
              <a:rPr lang="en-US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Blob creation event triggers Azure Function 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Azure Function  calls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AI Document Intelligence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structured data and ingest into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SQL Database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75419E5-9253-AE8A-BDB8-7B1F59876E48}"/>
              </a:ext>
            </a:extLst>
          </p:cNvPr>
          <p:cNvSpPr txBox="1">
            <a:spLocks/>
          </p:cNvSpPr>
          <p:nvPr/>
        </p:nvSpPr>
        <p:spPr>
          <a:xfrm>
            <a:off x="909836" y="188361"/>
            <a:ext cx="8751085" cy="720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Architecture- Data Flow</a:t>
            </a:r>
          </a:p>
        </p:txBody>
      </p:sp>
    </p:spTree>
    <p:extLst>
      <p:ext uri="{BB962C8B-B14F-4D97-AF65-F5344CB8AC3E}">
        <p14:creationId xmlns:p14="http://schemas.microsoft.com/office/powerpoint/2010/main" val="190846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AECD4-342D-67A4-84A2-8E913721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BCE46B9-6BBF-330B-DEB1-353F875608F1}"/>
              </a:ext>
            </a:extLst>
          </p:cNvPr>
          <p:cNvSpPr txBox="1">
            <a:spLocks/>
          </p:cNvSpPr>
          <p:nvPr/>
        </p:nvSpPr>
        <p:spPr>
          <a:xfrm>
            <a:off x="909836" y="188361"/>
            <a:ext cx="8751085" cy="720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Context Diagram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B09A890-3AE5-83C7-89FC-7701188575AE}"/>
              </a:ext>
            </a:extLst>
          </p:cNvPr>
          <p:cNvSpPr txBox="1">
            <a:spLocks/>
          </p:cNvSpPr>
          <p:nvPr/>
        </p:nvSpPr>
        <p:spPr>
          <a:xfrm>
            <a:off x="929878" y="1628800"/>
            <a:ext cx="8874906" cy="4607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diagram of a data flow&#10;&#10;AI-generated content may be incorrect.">
            <a:extLst>
              <a:ext uri="{FF2B5EF4-FFF2-40B4-BE49-F238E27FC236}">
                <a16:creationId xmlns:a16="http://schemas.microsoft.com/office/drawing/2014/main" id="{BC4998C1-BB2B-146F-5BFC-193CAB5F4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2203"/>
            <a:ext cx="12188825" cy="608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01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D3DA7-243B-E868-445C-3F6070E88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1BF973D-DAB0-C121-5C0A-930A1BFA89E5}"/>
              </a:ext>
            </a:extLst>
          </p:cNvPr>
          <p:cNvSpPr txBox="1">
            <a:spLocks/>
          </p:cNvSpPr>
          <p:nvPr/>
        </p:nvSpPr>
        <p:spPr>
          <a:xfrm>
            <a:off x="822389" y="188362"/>
            <a:ext cx="8751085" cy="720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 Form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endParaRPr lang="en-CA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95B78192-BA8C-7620-C83F-F2A15FD5F4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2389" y="1144194"/>
            <a:ext cx="9088447" cy="4968175"/>
          </a:xfrm>
          <a:prstGeom prst="rect">
            <a:avLst/>
          </a:prstGeom>
          <a:solidFill>
            <a:srgbClr val="A5A5A5">
              <a:lumMod val="20000"/>
              <a:lumOff val="80000"/>
            </a:srgbClr>
          </a:solidFill>
          <a:ln>
            <a:solidFill>
              <a:prstClr val="black"/>
            </a:solidFill>
          </a:ln>
        </p:spPr>
      </p:pic>
    </p:spTree>
    <p:extLst>
      <p:ext uri="{BB962C8B-B14F-4D97-AF65-F5344CB8AC3E}">
        <p14:creationId xmlns:p14="http://schemas.microsoft.com/office/powerpoint/2010/main" val="397285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CD747-2B01-BC21-8562-EB928EF3E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1A69F06-2CA2-59E2-7515-267BC9FAA65D}"/>
              </a:ext>
            </a:extLst>
          </p:cNvPr>
          <p:cNvSpPr txBox="1">
            <a:spLocks/>
          </p:cNvSpPr>
          <p:nvPr/>
        </p:nvSpPr>
        <p:spPr>
          <a:xfrm>
            <a:off x="822389" y="188362"/>
            <a:ext cx="8751085" cy="720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– Upload Servlet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A8AA747-63B6-28A6-6F4A-5B99A0355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2388" y="1096989"/>
            <a:ext cx="8751085" cy="5526096"/>
          </a:xfrm>
          <a:prstGeom prst="rect">
            <a:avLst/>
          </a:prstGeom>
          <a:solidFill>
            <a:srgbClr val="A5A5A5">
              <a:lumMod val="20000"/>
              <a:lumOff val="80000"/>
            </a:srgbClr>
          </a:solidFill>
          <a:ln>
            <a:solidFill>
              <a:prstClr val="black"/>
            </a:solidFill>
          </a:ln>
        </p:spPr>
      </p:pic>
    </p:spTree>
    <p:extLst>
      <p:ext uri="{BB962C8B-B14F-4D97-AF65-F5344CB8AC3E}">
        <p14:creationId xmlns:p14="http://schemas.microsoft.com/office/powerpoint/2010/main" val="195354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D7B59-DA9E-E5E6-C2E7-67ABDD82A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0B47E2E-A8CB-2FB3-A548-1B8FCBC5FC1E}"/>
              </a:ext>
            </a:extLst>
          </p:cNvPr>
          <p:cNvSpPr txBox="1">
            <a:spLocks/>
          </p:cNvSpPr>
          <p:nvPr/>
        </p:nvSpPr>
        <p:spPr>
          <a:xfrm>
            <a:off x="822389" y="188362"/>
            <a:ext cx="8751085" cy="720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Azure Function – Analysis Trigger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1D804EF-1F90-BD0D-74F6-2459F9144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2389" y="1096989"/>
            <a:ext cx="9088447" cy="576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166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C512E-3D27-7BA3-9821-2F106C8AF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4501CCA-BCEA-904F-BB08-21FE11272E71}"/>
              </a:ext>
            </a:extLst>
          </p:cNvPr>
          <p:cNvSpPr txBox="1">
            <a:spLocks/>
          </p:cNvSpPr>
          <p:nvPr/>
        </p:nvSpPr>
        <p:spPr>
          <a:xfrm>
            <a:off x="822389" y="188362"/>
            <a:ext cx="8751085" cy="720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Azure Function – Analysis Trigger (</a:t>
            </a:r>
            <a:r>
              <a:rPr lang="en-CA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C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F24C98-3D6B-0D1D-6C9D-1A68C880D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389" y="1096989"/>
            <a:ext cx="10452274" cy="5075211"/>
          </a:xfrm>
        </p:spPr>
        <p:txBody>
          <a:bodyPr/>
          <a:lstStyle/>
          <a:p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CF6260-91C6-B794-2C34-F8A788E7F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88" y="1123032"/>
            <a:ext cx="10452273" cy="504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33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50A29-F6B9-CBE9-9E70-09D602AF7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D57202-901B-4171-3A15-A201E5D3059B}"/>
              </a:ext>
            </a:extLst>
          </p:cNvPr>
          <p:cNvSpPr/>
          <p:nvPr/>
        </p:nvSpPr>
        <p:spPr>
          <a:xfrm>
            <a:off x="1053852" y="1340768"/>
            <a:ext cx="9505056" cy="489654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6C99B3B-BC33-8BE3-0810-FDAA84520D88}"/>
              </a:ext>
            </a:extLst>
          </p:cNvPr>
          <p:cNvSpPr txBox="1">
            <a:spLocks/>
          </p:cNvSpPr>
          <p:nvPr/>
        </p:nvSpPr>
        <p:spPr>
          <a:xfrm>
            <a:off x="822389" y="188362"/>
            <a:ext cx="8751085" cy="720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 fontScale="85000" lnSpcReduction="10000"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by Step Instructions for Creating App Service Plan in Azure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F4E1F7C-61DE-8E92-4BA6-3EC438E04470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76892"/>
              </p:ext>
            </p:extLst>
          </p:nvPr>
        </p:nvGraphicFramePr>
        <p:xfrm>
          <a:off x="1917948" y="2276872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3" imgW="914400" imgH="771525" progId="Word.Document.12">
                  <p:embed/>
                </p:oleObj>
              </mc:Choice>
              <mc:Fallback>
                <p:oleObj name="Document" showAsIcon="1" r:id="rId3" imgW="914400" imgH="7715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17948" y="2276872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2613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5B6D8-ED57-1DEA-8AC9-7D14F30BB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B0D555-E745-0180-E177-374DA0BBC017}"/>
              </a:ext>
            </a:extLst>
          </p:cNvPr>
          <p:cNvSpPr/>
          <p:nvPr/>
        </p:nvSpPr>
        <p:spPr>
          <a:xfrm>
            <a:off x="1053852" y="1340768"/>
            <a:ext cx="9505056" cy="489654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394E53A-95C0-498A-F691-9C0CEB7E6D03}"/>
              </a:ext>
            </a:extLst>
          </p:cNvPr>
          <p:cNvSpPr txBox="1">
            <a:spLocks/>
          </p:cNvSpPr>
          <p:nvPr/>
        </p:nvSpPr>
        <p:spPr>
          <a:xfrm>
            <a:off x="822389" y="188362"/>
            <a:ext cx="8751085" cy="720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 fontScale="70000" lnSpcReduction="20000"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by Step Instructions for Creating Blob Storage and Azure SQL Instance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DB98174-0319-0C16-F082-4E7D8C650850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9192955"/>
              </p:ext>
            </p:extLst>
          </p:nvPr>
        </p:nvGraphicFramePr>
        <p:xfrm>
          <a:off x="1632150" y="2060848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3" imgW="914400" imgH="771525" progId="Word.Document.12">
                  <p:embed/>
                </p:oleObj>
              </mc:Choice>
              <mc:Fallback>
                <p:oleObj name="Document" showAsIcon="1" r:id="rId3" imgW="914400" imgH="7715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32150" y="2060848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362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B4CA4-A8F7-7BAF-519E-349467A1B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39B17BA-8D0C-C3DC-3282-52B390F14F7D}"/>
              </a:ext>
            </a:extLst>
          </p:cNvPr>
          <p:cNvSpPr/>
          <p:nvPr/>
        </p:nvSpPr>
        <p:spPr>
          <a:xfrm>
            <a:off x="1053852" y="1340768"/>
            <a:ext cx="9505056" cy="489654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9A5F1EE-2E92-273B-8DB1-3863C2E01412}"/>
              </a:ext>
            </a:extLst>
          </p:cNvPr>
          <p:cNvSpPr txBox="1">
            <a:spLocks/>
          </p:cNvSpPr>
          <p:nvPr/>
        </p:nvSpPr>
        <p:spPr>
          <a:xfrm>
            <a:off x="822389" y="188362"/>
            <a:ext cx="8751085" cy="720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 fontScale="92500"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by Step Instructions for Deploying WAR file in Azure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7921FA3B-B863-BCEA-FB56-DAAFA0CAE5E3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2177907"/>
              </p:ext>
            </p:extLst>
          </p:nvPr>
        </p:nvGraphicFramePr>
        <p:xfrm>
          <a:off x="1629591" y="2060848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3" imgW="914400" imgH="771525" progId="Word.Document.12">
                  <p:embed/>
                </p:oleObj>
              </mc:Choice>
              <mc:Fallback>
                <p:oleObj name="Document" showAsIcon="1" r:id="rId3" imgW="914400" imgH="7715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9591" y="2060848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3250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D1FF8-4E0F-3CDD-C922-FE3317E58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5EAB89-EE15-1FF5-076D-0DD652432A47}"/>
              </a:ext>
            </a:extLst>
          </p:cNvPr>
          <p:cNvSpPr/>
          <p:nvPr/>
        </p:nvSpPr>
        <p:spPr>
          <a:xfrm>
            <a:off x="1053852" y="1340768"/>
            <a:ext cx="9505056" cy="489654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FFE5BD-A281-BDD1-C730-D582755CAD1C}"/>
              </a:ext>
            </a:extLst>
          </p:cNvPr>
          <p:cNvSpPr txBox="1">
            <a:spLocks/>
          </p:cNvSpPr>
          <p:nvPr/>
        </p:nvSpPr>
        <p:spPr>
          <a:xfrm>
            <a:off x="822389" y="188362"/>
            <a:ext cx="8751085" cy="720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 fontScale="92500"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by Step Instructions for Deploying Azure Functions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49B0DA6D-3AE1-CE87-2ACA-F35D356EDB1D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6623565"/>
              </p:ext>
            </p:extLst>
          </p:nvPr>
        </p:nvGraphicFramePr>
        <p:xfrm>
          <a:off x="1629917" y="2060848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3" imgW="914400" imgH="771525" progId="Word.Document.12">
                  <p:embed/>
                </p:oleObj>
              </mc:Choice>
              <mc:Fallback>
                <p:oleObj name="Document" showAsIcon="1" r:id="rId3" imgW="914400" imgH="7715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9917" y="2060848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001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9C64C-C3F7-E12C-8545-58BF1018A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02FA4EC-B31A-6A28-D84A-3997BFE831CF}"/>
              </a:ext>
            </a:extLst>
          </p:cNvPr>
          <p:cNvSpPr/>
          <p:nvPr/>
        </p:nvSpPr>
        <p:spPr>
          <a:xfrm>
            <a:off x="1053852" y="1340768"/>
            <a:ext cx="9505056" cy="489654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207B354-D915-5E6F-52D9-E7D62C4924D7}"/>
              </a:ext>
            </a:extLst>
          </p:cNvPr>
          <p:cNvSpPr txBox="1">
            <a:spLocks/>
          </p:cNvSpPr>
          <p:nvPr/>
        </p:nvSpPr>
        <p:spPr>
          <a:xfrm>
            <a:off x="822389" y="188362"/>
            <a:ext cx="8751085" cy="720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 of Results- File Upload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02BADC2-2BE2-5E1D-CAF8-20BBEB15D4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78328" y="1701800"/>
            <a:ext cx="7435368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686FF-12A8-E841-0AEE-138E5467A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E60BB2-032E-1C82-CD52-3820E7534C68}"/>
              </a:ext>
            </a:extLst>
          </p:cNvPr>
          <p:cNvSpPr/>
          <p:nvPr/>
        </p:nvSpPr>
        <p:spPr>
          <a:xfrm>
            <a:off x="1053852" y="1340768"/>
            <a:ext cx="9505056" cy="489654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872DF40-C1B1-DC3E-A8A2-CB2977AD26AA}"/>
              </a:ext>
            </a:extLst>
          </p:cNvPr>
          <p:cNvSpPr txBox="1">
            <a:spLocks/>
          </p:cNvSpPr>
          <p:nvPr/>
        </p:nvSpPr>
        <p:spPr>
          <a:xfrm>
            <a:off x="822389" y="188362"/>
            <a:ext cx="8751085" cy="720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 of Results- Upload Status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178C9B9-4DC6-FAD4-A63F-D1AC59AB8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7906" y="1676155"/>
            <a:ext cx="8630854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57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634EB-9159-2B42-A6D8-57827DC5F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56B92FD-B500-F1D6-554C-07B871847B1F}"/>
              </a:ext>
            </a:extLst>
          </p:cNvPr>
          <p:cNvSpPr/>
          <p:nvPr/>
        </p:nvSpPr>
        <p:spPr>
          <a:xfrm>
            <a:off x="1053852" y="1340768"/>
            <a:ext cx="9505056" cy="489654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E33950E-8494-203D-31B6-B79F9A285885}"/>
              </a:ext>
            </a:extLst>
          </p:cNvPr>
          <p:cNvSpPr txBox="1">
            <a:spLocks/>
          </p:cNvSpPr>
          <p:nvPr/>
        </p:nvSpPr>
        <p:spPr>
          <a:xfrm>
            <a:off x="822389" y="188362"/>
            <a:ext cx="8751085" cy="720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 of Results- Output Logs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C600CB54-0A31-E2AB-3C2E-9EE5DFA1CE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17600" y="1628800"/>
            <a:ext cx="9247205" cy="403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3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AECBA-6792-2A96-6F86-56DE75894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3A1C4D-3EA3-105D-F964-C5019B214EBB}"/>
              </a:ext>
            </a:extLst>
          </p:cNvPr>
          <p:cNvSpPr/>
          <p:nvPr/>
        </p:nvSpPr>
        <p:spPr>
          <a:xfrm>
            <a:off x="1053852" y="1340768"/>
            <a:ext cx="9505056" cy="489654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BDECE22-3BCA-BC02-4EA8-7E858CB1470C}"/>
              </a:ext>
            </a:extLst>
          </p:cNvPr>
          <p:cNvSpPr txBox="1">
            <a:spLocks/>
          </p:cNvSpPr>
          <p:nvPr/>
        </p:nvSpPr>
        <p:spPr>
          <a:xfrm>
            <a:off x="822389" y="188362"/>
            <a:ext cx="8751085" cy="720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 of Results- Blob Storage Container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6F5FE3D-0D9B-770B-5A49-A0F47DE7F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17601" y="1772816"/>
            <a:ext cx="8649220" cy="403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1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B1FAE-788E-639D-8CBE-A949FC9EB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CD7367-D80D-9BBD-13C9-31723FEA6431}"/>
              </a:ext>
            </a:extLst>
          </p:cNvPr>
          <p:cNvSpPr/>
          <p:nvPr/>
        </p:nvSpPr>
        <p:spPr>
          <a:xfrm>
            <a:off x="1053852" y="1340768"/>
            <a:ext cx="9505056" cy="489654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3AC6F2-A620-4944-5F42-C97D5E15ECAF}"/>
              </a:ext>
            </a:extLst>
          </p:cNvPr>
          <p:cNvSpPr txBox="1">
            <a:spLocks/>
          </p:cNvSpPr>
          <p:nvPr/>
        </p:nvSpPr>
        <p:spPr>
          <a:xfrm>
            <a:off x="822389" y="188362"/>
            <a:ext cx="8751085" cy="720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 fontScale="85000" lnSpcReduction="10000"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 of Results- DB Table Snapshot in Azure SQL DB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DD2D588-0F36-EE99-88FA-E2C2066AC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17601" y="1529129"/>
            <a:ext cx="8798382" cy="420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47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02F42-7293-1A19-2F2A-6CF887F63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A876F6-325A-C895-0EFD-DDD59FEBDD35}"/>
              </a:ext>
            </a:extLst>
          </p:cNvPr>
          <p:cNvSpPr/>
          <p:nvPr/>
        </p:nvSpPr>
        <p:spPr>
          <a:xfrm>
            <a:off x="1053852" y="1340768"/>
            <a:ext cx="9505056" cy="489654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0BEBFE2-2031-DCE7-2258-DA4CF243FECF}"/>
              </a:ext>
            </a:extLst>
          </p:cNvPr>
          <p:cNvSpPr txBox="1">
            <a:spLocks/>
          </p:cNvSpPr>
          <p:nvPr/>
        </p:nvSpPr>
        <p:spPr>
          <a:xfrm>
            <a:off x="822389" y="188362"/>
            <a:ext cx="8751085" cy="720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67A371-EF68-09E2-0108-2FFE1218D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309" y="1701800"/>
            <a:ext cx="9153567" cy="4470400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CA" dirty="0"/>
              <a:t>This application takes an input file from a web UI and the file</a:t>
            </a:r>
          </a:p>
          <a:p>
            <a:pPr marL="0" indent="0">
              <a:buNone/>
            </a:pPr>
            <a:r>
              <a:rPr lang="en-CA" dirty="0"/>
              <a:t>is uploaded to  Azure Blob Storage container.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CA" dirty="0"/>
              <a:t>An Azure Function is triggered by a Blob Storage Event and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CA" dirty="0"/>
              <a:t>The function invokes Azure AI Document Intelligence Service 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CA" dirty="0"/>
              <a:t>The output from the AI Service is extracted into the individual fields and ingested into a DB for summarized analysis.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CA" dirty="0">
                <a:solidFill>
                  <a:srgbClr val="0070C0"/>
                </a:solidFill>
              </a:rPr>
              <a:t>As Next Step, a human review process can be added to the flow if the confidence threshold is below a certain value.</a:t>
            </a:r>
          </a:p>
        </p:txBody>
      </p:sp>
    </p:spTree>
    <p:extLst>
      <p:ext uri="{BB962C8B-B14F-4D97-AF65-F5344CB8AC3E}">
        <p14:creationId xmlns:p14="http://schemas.microsoft.com/office/powerpoint/2010/main" val="380940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82144-925B-950E-DDB9-71CB99C9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069A4DC-EE0C-D6BF-45A7-4D91E05C0E7F}"/>
              </a:ext>
            </a:extLst>
          </p:cNvPr>
          <p:cNvSpPr txBox="1">
            <a:spLocks/>
          </p:cNvSpPr>
          <p:nvPr/>
        </p:nvSpPr>
        <p:spPr>
          <a:xfrm>
            <a:off x="822389" y="188362"/>
            <a:ext cx="8751085" cy="7202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Clr>
                <a:schemeClr val="accent6">
                  <a:lumMod val="50000"/>
                </a:schemeClr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3226" indent="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None/>
              <a:defRPr sz="1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4562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72267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759862" indent="-285750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Clr>
                <a:schemeClr val="accent6">
                  <a:lumMod val="50000"/>
                </a:schemeClr>
              </a:buClr>
              <a:buSzPct val="90000"/>
              <a:buFont typeface="Century Gothic" panose="020B0502020202020204" pitchFamily="34" charset="0"/>
              <a:buChar char="–"/>
              <a:defRPr sz="1800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D242B-6DCC-F948-E8E5-FAC1B959A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389" y="1268760"/>
            <a:ext cx="9736519" cy="4903440"/>
          </a:xfr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lvl="0" indent="-3429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CA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MS Learn Documentation on Microsoft Azure AI Services</a:t>
            </a:r>
          </a:p>
          <a:p>
            <a:pPr marL="0" lvl="0" indent="-3429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CA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MS Learn Documentation on Microsoft Azure Cloud Services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88938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ass open house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Classroom open house presentation.potx" id="{AB7D8AB0-4323-4322-AB21-8CB398DB9E96}" vid="{5BFEA1FF-C39F-48A2-B239-4B55565FC3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Classroom open house presentation</Template>
  <TotalTime>3645</TotalTime>
  <Words>3078</Words>
  <Application>Microsoft Office PowerPoint</Application>
  <PresentationFormat>Custom</PresentationFormat>
  <Paragraphs>180</Paragraphs>
  <Slides>20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Century Gothic</vt:lpstr>
      <vt:lpstr>Symbol</vt:lpstr>
      <vt:lpstr>Times New Roman</vt:lpstr>
      <vt:lpstr>Wingdings</vt:lpstr>
      <vt:lpstr>Class open house presentation</vt:lpstr>
      <vt:lpstr>Document</vt:lpstr>
      <vt:lpstr>Intelligent Document Processing System(IDP)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Subrahmanya Pendyala</dc:creator>
  <cp:lastModifiedBy>spen72 Pendyala</cp:lastModifiedBy>
  <cp:revision>47</cp:revision>
  <cp:lastPrinted>2025-02-22T21:26:01Z</cp:lastPrinted>
  <dcterms:created xsi:type="dcterms:W3CDTF">2025-02-22T15:58:06Z</dcterms:created>
  <dcterms:modified xsi:type="dcterms:W3CDTF">2026-05-10T23:03:50Z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